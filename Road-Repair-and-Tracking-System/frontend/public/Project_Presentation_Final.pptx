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3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D3D"/>
    <a:srgbClr val="6020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75F560-1438-4AD8-8EFB-C4FBD6E59571}" v="847" dt="2024-04-15T17:14:28.033"/>
    <p1510:client id="{22F6DB49-8A94-45DA-9AFF-71FA904112AD}" v="46" dt="2024-04-15T18:08:18.084"/>
    <p1510:client id="{337FF6D0-4D18-4C9B-8E3E-55C5DC72CE2E}" v="15" dt="2024-04-16T04:57:07.669"/>
    <p1510:client id="{3A553AC6-355F-4307-B06C-3B2331620131}" v="867" dt="2024-04-15T19:01:11.485"/>
    <p1510:client id="{46CA3CEF-EA17-46B1-B72E-C507195F76A5}" v="614" dt="2024-04-16T05:50:28.526"/>
    <p1510:client id="{4EF3E4EB-046D-4034-AB9A-0ACF51CB8090}" v="235" dt="2024-04-15T17:33:59.901"/>
    <p1510:client id="{5E1C5AB9-1683-4AB2-9D83-DA5723EF9DEC}" v="45" dt="2024-04-15T18:01:31.083"/>
    <p1510:client id="{7F3A6D1B-920E-4510-B2E8-DDB4539AA800}" v="103" dt="2024-04-15T18:01:24.758"/>
    <p1510:client id="{9212D69E-F91D-42AF-8BFB-22B4194D2C73}" v="69" dt="2024-04-15T19:03:55.288"/>
    <p1510:client id="{CC1330F0-3C54-43EC-9C67-700118F26962}" v="421" dt="2024-04-15T18:42:35.463"/>
    <p1510:client id="{F7FE5E80-EFC8-4659-92C1-D132668698FF}" v="311" dt="2024-04-16T07:25:04.937"/>
    <p1510:client id="{FB8F41F0-A1C4-47F5-AA30-9D433EFCE741}" v="247" dt="2024-04-16T05:35:28.8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F6F352-17AE-4A2E-B45A-07A74FCD1B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8A60EE2-B5DD-4189-A4AE-C53DF353791F}">
      <dgm:prSet/>
      <dgm:spPr/>
      <dgm:t>
        <a:bodyPr/>
        <a:lstStyle/>
        <a:p>
          <a:r>
            <a:rPr lang="en-US" b="1"/>
            <a:t>FRONTEND</a:t>
          </a:r>
          <a:r>
            <a:rPr lang="en-US"/>
            <a:t> : ReactJS , HTML , CSS.</a:t>
          </a:r>
        </a:p>
      </dgm:t>
    </dgm:pt>
    <dgm:pt modelId="{5E575E48-336D-490A-AC0A-D3025AABAF3C}" type="parTrans" cxnId="{58F5EF63-F0FC-4EA6-99F1-BAFBF39D2BAB}">
      <dgm:prSet/>
      <dgm:spPr/>
      <dgm:t>
        <a:bodyPr/>
        <a:lstStyle/>
        <a:p>
          <a:endParaRPr lang="en-US"/>
        </a:p>
      </dgm:t>
    </dgm:pt>
    <dgm:pt modelId="{73FB251D-9764-41DB-B851-A9DE344F88FB}" type="sibTrans" cxnId="{58F5EF63-F0FC-4EA6-99F1-BAFBF39D2BAB}">
      <dgm:prSet/>
      <dgm:spPr/>
      <dgm:t>
        <a:bodyPr/>
        <a:lstStyle/>
        <a:p>
          <a:endParaRPr lang="en-US"/>
        </a:p>
      </dgm:t>
    </dgm:pt>
    <dgm:pt modelId="{5FE9AC82-B148-40CD-B01C-217A92A6117F}">
      <dgm:prSet/>
      <dgm:spPr/>
      <dgm:t>
        <a:bodyPr/>
        <a:lstStyle/>
        <a:p>
          <a:r>
            <a:rPr lang="en-US" b="1"/>
            <a:t>BACKEND </a:t>
          </a:r>
          <a:r>
            <a:rPr lang="en-US"/>
            <a:t>  : MongoDB , ExpressJS, Mongoose,NodeJS.</a:t>
          </a:r>
        </a:p>
      </dgm:t>
    </dgm:pt>
    <dgm:pt modelId="{C23E45AA-285D-4323-BE61-58248AD87FD2}" type="parTrans" cxnId="{B3568A70-16DF-4251-8F7F-A24AA8AFBE6B}">
      <dgm:prSet/>
      <dgm:spPr/>
      <dgm:t>
        <a:bodyPr/>
        <a:lstStyle/>
        <a:p>
          <a:endParaRPr lang="en-US"/>
        </a:p>
      </dgm:t>
    </dgm:pt>
    <dgm:pt modelId="{1459B1A7-A4F2-4E7B-ACB6-77911F298BC0}" type="sibTrans" cxnId="{B3568A70-16DF-4251-8F7F-A24AA8AFBE6B}">
      <dgm:prSet/>
      <dgm:spPr/>
      <dgm:t>
        <a:bodyPr/>
        <a:lstStyle/>
        <a:p>
          <a:endParaRPr lang="en-US"/>
        </a:p>
      </dgm:t>
    </dgm:pt>
    <dgm:pt modelId="{43BF41DD-616A-4A8A-A893-6C63A1612764}">
      <dgm:prSet/>
      <dgm:spPr/>
      <dgm:t>
        <a:bodyPr/>
        <a:lstStyle/>
        <a:p>
          <a:r>
            <a:rPr lang="en-US" b="1"/>
            <a:t>Models</a:t>
          </a:r>
          <a:r>
            <a:rPr lang="en-US"/>
            <a:t> :   We created classes for each entity of system.</a:t>
          </a:r>
        </a:p>
      </dgm:t>
    </dgm:pt>
    <dgm:pt modelId="{8BC40FAB-EB8C-425F-8CCF-2EE1DE054A53}" type="parTrans" cxnId="{401050D4-34E3-46CE-BDFC-F505C3232C53}">
      <dgm:prSet/>
      <dgm:spPr/>
      <dgm:t>
        <a:bodyPr/>
        <a:lstStyle/>
        <a:p>
          <a:endParaRPr lang="en-US"/>
        </a:p>
      </dgm:t>
    </dgm:pt>
    <dgm:pt modelId="{4CA45DBC-680F-4C4B-AAB9-FEBDE824D356}" type="sibTrans" cxnId="{401050D4-34E3-46CE-BDFC-F505C3232C53}">
      <dgm:prSet/>
      <dgm:spPr/>
      <dgm:t>
        <a:bodyPr/>
        <a:lstStyle/>
        <a:p>
          <a:endParaRPr lang="en-US"/>
        </a:p>
      </dgm:t>
    </dgm:pt>
    <dgm:pt modelId="{EA0CAD6C-F7D6-46FC-A64D-86E82677064C}">
      <dgm:prSet/>
      <dgm:spPr/>
      <dgm:t>
        <a:bodyPr/>
        <a:lstStyle/>
        <a:p>
          <a:r>
            <a:rPr lang="en-US" b="1"/>
            <a:t>Templates</a:t>
          </a:r>
          <a:r>
            <a:rPr lang="en-US"/>
            <a:t>:   Different pages with unique url's.</a:t>
          </a:r>
        </a:p>
      </dgm:t>
    </dgm:pt>
    <dgm:pt modelId="{4A3021D9-4089-4003-A90E-74F1EA03FB08}" type="parTrans" cxnId="{B53B7F31-3663-4112-AB06-68028C9E2946}">
      <dgm:prSet/>
      <dgm:spPr/>
      <dgm:t>
        <a:bodyPr/>
        <a:lstStyle/>
        <a:p>
          <a:endParaRPr lang="en-US"/>
        </a:p>
      </dgm:t>
    </dgm:pt>
    <dgm:pt modelId="{30935349-E02E-4B9D-B458-BE87B0999722}" type="sibTrans" cxnId="{B53B7F31-3663-4112-AB06-68028C9E2946}">
      <dgm:prSet/>
      <dgm:spPr/>
      <dgm:t>
        <a:bodyPr/>
        <a:lstStyle/>
        <a:p>
          <a:endParaRPr lang="en-US"/>
        </a:p>
      </dgm:t>
    </dgm:pt>
    <dgm:pt modelId="{42E83C1D-51AB-40C5-9F77-012BD9BE2650}">
      <dgm:prSet/>
      <dgm:spPr/>
      <dgm:t>
        <a:bodyPr/>
        <a:lstStyle/>
        <a:p>
          <a:r>
            <a:rPr lang="en-US" b="1"/>
            <a:t>Event Handling:</a:t>
          </a:r>
          <a:r>
            <a:rPr lang="en-US"/>
            <a:t> Views respond to user interactions like clicks and input changes, driving the application's functionality.</a:t>
          </a:r>
        </a:p>
      </dgm:t>
    </dgm:pt>
    <dgm:pt modelId="{CE1F2359-1130-49A8-8B54-17A35700A993}" type="parTrans" cxnId="{A958A820-B715-4B23-A50E-3082D96458F1}">
      <dgm:prSet/>
      <dgm:spPr/>
      <dgm:t>
        <a:bodyPr/>
        <a:lstStyle/>
        <a:p>
          <a:endParaRPr lang="en-US"/>
        </a:p>
      </dgm:t>
    </dgm:pt>
    <dgm:pt modelId="{0BEC1F34-4C1C-4F4B-AED9-AC8560888512}" type="sibTrans" cxnId="{A958A820-B715-4B23-A50E-3082D96458F1}">
      <dgm:prSet/>
      <dgm:spPr/>
      <dgm:t>
        <a:bodyPr/>
        <a:lstStyle/>
        <a:p>
          <a:endParaRPr lang="en-US"/>
        </a:p>
      </dgm:t>
    </dgm:pt>
    <dgm:pt modelId="{5EF95A09-6A04-48D3-9E1B-991D70980551}">
      <dgm:prSet/>
      <dgm:spPr/>
      <dgm:t>
        <a:bodyPr/>
        <a:lstStyle/>
        <a:p>
          <a:r>
            <a:rPr lang="en-US" b="1"/>
            <a:t>Routing and Navigation:</a:t>
          </a:r>
          <a:r>
            <a:rPr lang="en-US"/>
            <a:t> Utilizing React Router, views enable seamless navigation between different pages or views within the application.</a:t>
          </a:r>
        </a:p>
      </dgm:t>
    </dgm:pt>
    <dgm:pt modelId="{6E975578-D599-44DD-9908-C133BA005DF1}" type="parTrans" cxnId="{B8DE2098-5E65-45C3-B82E-3D6920933315}">
      <dgm:prSet/>
      <dgm:spPr/>
      <dgm:t>
        <a:bodyPr/>
        <a:lstStyle/>
        <a:p>
          <a:endParaRPr lang="en-US"/>
        </a:p>
      </dgm:t>
    </dgm:pt>
    <dgm:pt modelId="{558378EA-14DA-4D34-A697-5EDBF25F37B1}" type="sibTrans" cxnId="{B8DE2098-5E65-45C3-B82E-3D6920933315}">
      <dgm:prSet/>
      <dgm:spPr/>
      <dgm:t>
        <a:bodyPr/>
        <a:lstStyle/>
        <a:p>
          <a:endParaRPr lang="en-US"/>
        </a:p>
      </dgm:t>
    </dgm:pt>
    <dgm:pt modelId="{9F7CB769-73CC-4FAB-958A-C093CDBFC279}">
      <dgm:prSet/>
      <dgm:spPr/>
      <dgm:t>
        <a:bodyPr/>
        <a:lstStyle/>
        <a:p>
          <a:r>
            <a:rPr lang="en-US" b="1"/>
            <a:t>Integration with Backend APIs:</a:t>
          </a:r>
          <a:r>
            <a:rPr lang="en-US"/>
            <a:t> Views communicate with backend APIs to fetch and update data, ensuring real-time data interaction for users.</a:t>
          </a:r>
        </a:p>
      </dgm:t>
    </dgm:pt>
    <dgm:pt modelId="{4C7BB571-F2EA-4089-841B-3C79768328DF}" type="parTrans" cxnId="{4E333871-0E2D-4DB9-88BB-0E92EE2F9D9B}">
      <dgm:prSet/>
      <dgm:spPr/>
      <dgm:t>
        <a:bodyPr/>
        <a:lstStyle/>
        <a:p>
          <a:endParaRPr lang="en-US"/>
        </a:p>
      </dgm:t>
    </dgm:pt>
    <dgm:pt modelId="{5F090E49-79CD-4E06-A4CF-8BFC3F9285BC}" type="sibTrans" cxnId="{4E333871-0E2D-4DB9-88BB-0E92EE2F9D9B}">
      <dgm:prSet/>
      <dgm:spPr/>
      <dgm:t>
        <a:bodyPr/>
        <a:lstStyle/>
        <a:p>
          <a:endParaRPr lang="en-US"/>
        </a:p>
      </dgm:t>
    </dgm:pt>
    <dgm:pt modelId="{91E60F07-685D-4BFB-B2D7-DFAFED8D07DB}">
      <dgm:prSet/>
      <dgm:spPr/>
      <dgm:t>
        <a:bodyPr/>
        <a:lstStyle/>
        <a:p>
          <a:r>
            <a:rPr lang="en-US" b="1"/>
            <a:t>Error Handling:</a:t>
          </a:r>
          <a:r>
            <a:rPr lang="en-US"/>
            <a:t> Views gracefully handle errors by displaying informative messages and guiding users on how to proceed, enhancing user trust and satisfaction</a:t>
          </a:r>
        </a:p>
      </dgm:t>
    </dgm:pt>
    <dgm:pt modelId="{A6D1E11A-26CE-407D-AEE8-DDDDABE161AE}" type="parTrans" cxnId="{7C007802-E7BE-45E6-84A1-715AB2733ECF}">
      <dgm:prSet/>
      <dgm:spPr/>
      <dgm:t>
        <a:bodyPr/>
        <a:lstStyle/>
        <a:p>
          <a:endParaRPr lang="en-US"/>
        </a:p>
      </dgm:t>
    </dgm:pt>
    <dgm:pt modelId="{0DD9C6C9-9B66-4B58-87DA-879676EF5137}" type="sibTrans" cxnId="{7C007802-E7BE-45E6-84A1-715AB2733ECF}">
      <dgm:prSet/>
      <dgm:spPr/>
      <dgm:t>
        <a:bodyPr/>
        <a:lstStyle/>
        <a:p>
          <a:endParaRPr lang="en-US"/>
        </a:p>
      </dgm:t>
    </dgm:pt>
    <dgm:pt modelId="{6523D74F-3344-45D1-8C42-9C88F086FE9B}" type="pres">
      <dgm:prSet presAssocID="{85F6F352-17AE-4A2E-B45A-07A74FCD1BB9}" presName="linear" presStyleCnt="0">
        <dgm:presLayoutVars>
          <dgm:animLvl val="lvl"/>
          <dgm:resizeHandles val="exact"/>
        </dgm:presLayoutVars>
      </dgm:prSet>
      <dgm:spPr/>
    </dgm:pt>
    <dgm:pt modelId="{E5D0FB0F-3AEA-4737-A5BD-0F7EDCF7C898}" type="pres">
      <dgm:prSet presAssocID="{98A60EE2-B5DD-4189-A4AE-C53DF353791F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BD215BB7-B669-455C-8DAB-CB64C0AC44CD}" type="pres">
      <dgm:prSet presAssocID="{73FB251D-9764-41DB-B851-A9DE344F88FB}" presName="spacer" presStyleCnt="0"/>
      <dgm:spPr/>
    </dgm:pt>
    <dgm:pt modelId="{B52FE86F-3ACE-4213-BFB5-1AF7E546FA90}" type="pres">
      <dgm:prSet presAssocID="{5FE9AC82-B148-40CD-B01C-217A92A6117F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69BA49B6-4662-4959-B7C9-722A045C4513}" type="pres">
      <dgm:prSet presAssocID="{1459B1A7-A4F2-4E7B-ACB6-77911F298BC0}" presName="spacer" presStyleCnt="0"/>
      <dgm:spPr/>
    </dgm:pt>
    <dgm:pt modelId="{1623AE40-4951-47C4-AC21-724A2A164F14}" type="pres">
      <dgm:prSet presAssocID="{43BF41DD-616A-4A8A-A893-6C63A1612764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801D90AF-B509-46A5-B29A-02651EEDC7CF}" type="pres">
      <dgm:prSet presAssocID="{4CA45DBC-680F-4C4B-AAB9-FEBDE824D356}" presName="spacer" presStyleCnt="0"/>
      <dgm:spPr/>
    </dgm:pt>
    <dgm:pt modelId="{DCB0AE4F-6D43-4EEA-A873-FCC5C0E41E66}" type="pres">
      <dgm:prSet presAssocID="{EA0CAD6C-F7D6-46FC-A64D-86E82677064C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29CE832B-2735-4F3B-8B32-38F963F2FB59}" type="pres">
      <dgm:prSet presAssocID="{30935349-E02E-4B9D-B458-BE87B0999722}" presName="spacer" presStyleCnt="0"/>
      <dgm:spPr/>
    </dgm:pt>
    <dgm:pt modelId="{6EE5CFFE-9843-4D1E-85AE-A5AB388BFE90}" type="pres">
      <dgm:prSet presAssocID="{42E83C1D-51AB-40C5-9F77-012BD9BE2650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02D0A9FB-0340-4305-A26B-08EEDE53F122}" type="pres">
      <dgm:prSet presAssocID="{0BEC1F34-4C1C-4F4B-AED9-AC8560888512}" presName="spacer" presStyleCnt="0"/>
      <dgm:spPr/>
    </dgm:pt>
    <dgm:pt modelId="{830066FE-D9C0-4017-B59E-6B926ADC1E25}" type="pres">
      <dgm:prSet presAssocID="{5EF95A09-6A04-48D3-9E1B-991D70980551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16CEF8A2-C9B0-4812-94EF-4A677F93AAD4}" type="pres">
      <dgm:prSet presAssocID="{558378EA-14DA-4D34-A697-5EDBF25F37B1}" presName="spacer" presStyleCnt="0"/>
      <dgm:spPr/>
    </dgm:pt>
    <dgm:pt modelId="{2EB946D2-562B-4D31-9B74-11F46317CD89}" type="pres">
      <dgm:prSet presAssocID="{9F7CB769-73CC-4FAB-958A-C093CDBFC279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C7E86462-7339-4E75-923A-345DD5A1921B}" type="pres">
      <dgm:prSet presAssocID="{5F090E49-79CD-4E06-A4CF-8BFC3F9285BC}" presName="spacer" presStyleCnt="0"/>
      <dgm:spPr/>
    </dgm:pt>
    <dgm:pt modelId="{3B6DA155-7197-45C9-B782-CEEABEBA53D8}" type="pres">
      <dgm:prSet presAssocID="{91E60F07-685D-4BFB-B2D7-DFAFED8D07DB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F2EFAA01-9268-407C-BBA3-D94D02AFFE23}" type="presOf" srcId="{98A60EE2-B5DD-4189-A4AE-C53DF353791F}" destId="{E5D0FB0F-3AEA-4737-A5BD-0F7EDCF7C898}" srcOrd="0" destOrd="0" presId="urn:microsoft.com/office/officeart/2005/8/layout/vList2"/>
    <dgm:cxn modelId="{7C007802-E7BE-45E6-84A1-715AB2733ECF}" srcId="{85F6F352-17AE-4A2E-B45A-07A74FCD1BB9}" destId="{91E60F07-685D-4BFB-B2D7-DFAFED8D07DB}" srcOrd="7" destOrd="0" parTransId="{A6D1E11A-26CE-407D-AEE8-DDDDABE161AE}" sibTransId="{0DD9C6C9-9B66-4B58-87DA-879676EF5137}"/>
    <dgm:cxn modelId="{51E17D02-3357-42CD-A693-EC3A4DED39A6}" type="presOf" srcId="{EA0CAD6C-F7D6-46FC-A64D-86E82677064C}" destId="{DCB0AE4F-6D43-4EEA-A873-FCC5C0E41E66}" srcOrd="0" destOrd="0" presId="urn:microsoft.com/office/officeart/2005/8/layout/vList2"/>
    <dgm:cxn modelId="{A958A820-B715-4B23-A50E-3082D96458F1}" srcId="{85F6F352-17AE-4A2E-B45A-07A74FCD1BB9}" destId="{42E83C1D-51AB-40C5-9F77-012BD9BE2650}" srcOrd="4" destOrd="0" parTransId="{CE1F2359-1130-49A8-8B54-17A35700A993}" sibTransId="{0BEC1F34-4C1C-4F4B-AED9-AC8560888512}"/>
    <dgm:cxn modelId="{B53B7F31-3663-4112-AB06-68028C9E2946}" srcId="{85F6F352-17AE-4A2E-B45A-07A74FCD1BB9}" destId="{EA0CAD6C-F7D6-46FC-A64D-86E82677064C}" srcOrd="3" destOrd="0" parTransId="{4A3021D9-4089-4003-A90E-74F1EA03FB08}" sibTransId="{30935349-E02E-4B9D-B458-BE87B0999722}"/>
    <dgm:cxn modelId="{58F5EF63-F0FC-4EA6-99F1-BAFBF39D2BAB}" srcId="{85F6F352-17AE-4A2E-B45A-07A74FCD1BB9}" destId="{98A60EE2-B5DD-4189-A4AE-C53DF353791F}" srcOrd="0" destOrd="0" parTransId="{5E575E48-336D-490A-AC0A-D3025AABAF3C}" sibTransId="{73FB251D-9764-41DB-B851-A9DE344F88FB}"/>
    <dgm:cxn modelId="{B3568A70-16DF-4251-8F7F-A24AA8AFBE6B}" srcId="{85F6F352-17AE-4A2E-B45A-07A74FCD1BB9}" destId="{5FE9AC82-B148-40CD-B01C-217A92A6117F}" srcOrd="1" destOrd="0" parTransId="{C23E45AA-285D-4323-BE61-58248AD87FD2}" sibTransId="{1459B1A7-A4F2-4E7B-ACB6-77911F298BC0}"/>
    <dgm:cxn modelId="{4E333871-0E2D-4DB9-88BB-0E92EE2F9D9B}" srcId="{85F6F352-17AE-4A2E-B45A-07A74FCD1BB9}" destId="{9F7CB769-73CC-4FAB-958A-C093CDBFC279}" srcOrd="6" destOrd="0" parTransId="{4C7BB571-F2EA-4089-841B-3C79768328DF}" sibTransId="{5F090E49-79CD-4E06-A4CF-8BFC3F9285BC}"/>
    <dgm:cxn modelId="{33B2B483-88ED-4BC2-8C60-47587A0107BC}" type="presOf" srcId="{91E60F07-685D-4BFB-B2D7-DFAFED8D07DB}" destId="{3B6DA155-7197-45C9-B782-CEEABEBA53D8}" srcOrd="0" destOrd="0" presId="urn:microsoft.com/office/officeart/2005/8/layout/vList2"/>
    <dgm:cxn modelId="{278EB386-2D78-4AB3-9147-7E7F6A1E0E6A}" type="presOf" srcId="{5FE9AC82-B148-40CD-B01C-217A92A6117F}" destId="{B52FE86F-3ACE-4213-BFB5-1AF7E546FA90}" srcOrd="0" destOrd="0" presId="urn:microsoft.com/office/officeart/2005/8/layout/vList2"/>
    <dgm:cxn modelId="{54A8D08A-B04D-4802-82B8-AAEC0C992516}" type="presOf" srcId="{43BF41DD-616A-4A8A-A893-6C63A1612764}" destId="{1623AE40-4951-47C4-AC21-724A2A164F14}" srcOrd="0" destOrd="0" presId="urn:microsoft.com/office/officeart/2005/8/layout/vList2"/>
    <dgm:cxn modelId="{B8DE2098-5E65-45C3-B82E-3D6920933315}" srcId="{85F6F352-17AE-4A2E-B45A-07A74FCD1BB9}" destId="{5EF95A09-6A04-48D3-9E1B-991D70980551}" srcOrd="5" destOrd="0" parTransId="{6E975578-D599-44DD-9908-C133BA005DF1}" sibTransId="{558378EA-14DA-4D34-A697-5EDBF25F37B1}"/>
    <dgm:cxn modelId="{1ADAB89C-D466-429B-BE25-33E91C8B0CFB}" type="presOf" srcId="{9F7CB769-73CC-4FAB-958A-C093CDBFC279}" destId="{2EB946D2-562B-4D31-9B74-11F46317CD89}" srcOrd="0" destOrd="0" presId="urn:microsoft.com/office/officeart/2005/8/layout/vList2"/>
    <dgm:cxn modelId="{9C0C01AB-B00E-497A-9F1E-C9D0A917BEFA}" type="presOf" srcId="{5EF95A09-6A04-48D3-9E1B-991D70980551}" destId="{830066FE-D9C0-4017-B59E-6B926ADC1E25}" srcOrd="0" destOrd="0" presId="urn:microsoft.com/office/officeart/2005/8/layout/vList2"/>
    <dgm:cxn modelId="{401050D4-34E3-46CE-BDFC-F505C3232C53}" srcId="{85F6F352-17AE-4A2E-B45A-07A74FCD1BB9}" destId="{43BF41DD-616A-4A8A-A893-6C63A1612764}" srcOrd="2" destOrd="0" parTransId="{8BC40FAB-EB8C-425F-8CCF-2EE1DE054A53}" sibTransId="{4CA45DBC-680F-4C4B-AAB9-FEBDE824D356}"/>
    <dgm:cxn modelId="{E2F789D7-9031-424C-BA9E-3D85B974F0EF}" type="presOf" srcId="{42E83C1D-51AB-40C5-9F77-012BD9BE2650}" destId="{6EE5CFFE-9843-4D1E-85AE-A5AB388BFE90}" srcOrd="0" destOrd="0" presId="urn:microsoft.com/office/officeart/2005/8/layout/vList2"/>
    <dgm:cxn modelId="{03BF13EA-1A42-4D02-96F7-DBDC9D936A1D}" type="presOf" srcId="{85F6F352-17AE-4A2E-B45A-07A74FCD1BB9}" destId="{6523D74F-3344-45D1-8C42-9C88F086FE9B}" srcOrd="0" destOrd="0" presId="urn:microsoft.com/office/officeart/2005/8/layout/vList2"/>
    <dgm:cxn modelId="{B2E96A5C-2183-41C3-8981-351F54C34B1F}" type="presParOf" srcId="{6523D74F-3344-45D1-8C42-9C88F086FE9B}" destId="{E5D0FB0F-3AEA-4737-A5BD-0F7EDCF7C898}" srcOrd="0" destOrd="0" presId="urn:microsoft.com/office/officeart/2005/8/layout/vList2"/>
    <dgm:cxn modelId="{A749AF8F-8BE6-44BD-A168-4E3CD27811CC}" type="presParOf" srcId="{6523D74F-3344-45D1-8C42-9C88F086FE9B}" destId="{BD215BB7-B669-455C-8DAB-CB64C0AC44CD}" srcOrd="1" destOrd="0" presId="urn:microsoft.com/office/officeart/2005/8/layout/vList2"/>
    <dgm:cxn modelId="{42AF5F78-750F-447F-A5EC-AEDAEB2E3510}" type="presParOf" srcId="{6523D74F-3344-45D1-8C42-9C88F086FE9B}" destId="{B52FE86F-3ACE-4213-BFB5-1AF7E546FA90}" srcOrd="2" destOrd="0" presId="urn:microsoft.com/office/officeart/2005/8/layout/vList2"/>
    <dgm:cxn modelId="{C12939C1-99E7-4682-9C8B-3132C9D139AB}" type="presParOf" srcId="{6523D74F-3344-45D1-8C42-9C88F086FE9B}" destId="{69BA49B6-4662-4959-B7C9-722A045C4513}" srcOrd="3" destOrd="0" presId="urn:microsoft.com/office/officeart/2005/8/layout/vList2"/>
    <dgm:cxn modelId="{FF7FCF63-FDEC-4BA9-9D57-209A90531AD2}" type="presParOf" srcId="{6523D74F-3344-45D1-8C42-9C88F086FE9B}" destId="{1623AE40-4951-47C4-AC21-724A2A164F14}" srcOrd="4" destOrd="0" presId="urn:microsoft.com/office/officeart/2005/8/layout/vList2"/>
    <dgm:cxn modelId="{E597773D-4E87-45C3-9AF6-93AB631BD5EB}" type="presParOf" srcId="{6523D74F-3344-45D1-8C42-9C88F086FE9B}" destId="{801D90AF-B509-46A5-B29A-02651EEDC7CF}" srcOrd="5" destOrd="0" presId="urn:microsoft.com/office/officeart/2005/8/layout/vList2"/>
    <dgm:cxn modelId="{29723DE6-D9A1-467D-A7D5-24B08862D47B}" type="presParOf" srcId="{6523D74F-3344-45D1-8C42-9C88F086FE9B}" destId="{DCB0AE4F-6D43-4EEA-A873-FCC5C0E41E66}" srcOrd="6" destOrd="0" presId="urn:microsoft.com/office/officeart/2005/8/layout/vList2"/>
    <dgm:cxn modelId="{29C2AAF8-841D-4B4A-91EA-0B7A1599AAB7}" type="presParOf" srcId="{6523D74F-3344-45D1-8C42-9C88F086FE9B}" destId="{29CE832B-2735-4F3B-8B32-38F963F2FB59}" srcOrd="7" destOrd="0" presId="urn:microsoft.com/office/officeart/2005/8/layout/vList2"/>
    <dgm:cxn modelId="{47BE9B83-49B6-40A4-A888-D613B8FE09E0}" type="presParOf" srcId="{6523D74F-3344-45D1-8C42-9C88F086FE9B}" destId="{6EE5CFFE-9843-4D1E-85AE-A5AB388BFE90}" srcOrd="8" destOrd="0" presId="urn:microsoft.com/office/officeart/2005/8/layout/vList2"/>
    <dgm:cxn modelId="{6AAD9E53-1E8B-4325-B191-D2A56363A7EB}" type="presParOf" srcId="{6523D74F-3344-45D1-8C42-9C88F086FE9B}" destId="{02D0A9FB-0340-4305-A26B-08EEDE53F122}" srcOrd="9" destOrd="0" presId="urn:microsoft.com/office/officeart/2005/8/layout/vList2"/>
    <dgm:cxn modelId="{0D119AB7-E750-41E4-933C-8A4A4D50E4A4}" type="presParOf" srcId="{6523D74F-3344-45D1-8C42-9C88F086FE9B}" destId="{830066FE-D9C0-4017-B59E-6B926ADC1E25}" srcOrd="10" destOrd="0" presId="urn:microsoft.com/office/officeart/2005/8/layout/vList2"/>
    <dgm:cxn modelId="{4C7A7506-E045-4020-ADE6-CA0EC8CCFDD2}" type="presParOf" srcId="{6523D74F-3344-45D1-8C42-9C88F086FE9B}" destId="{16CEF8A2-C9B0-4812-94EF-4A677F93AAD4}" srcOrd="11" destOrd="0" presId="urn:microsoft.com/office/officeart/2005/8/layout/vList2"/>
    <dgm:cxn modelId="{EC73A676-12F9-414C-A2BA-ED23CFB6EF73}" type="presParOf" srcId="{6523D74F-3344-45D1-8C42-9C88F086FE9B}" destId="{2EB946D2-562B-4D31-9B74-11F46317CD89}" srcOrd="12" destOrd="0" presId="urn:microsoft.com/office/officeart/2005/8/layout/vList2"/>
    <dgm:cxn modelId="{C0729568-822B-4E76-8992-20196D3859E9}" type="presParOf" srcId="{6523D74F-3344-45D1-8C42-9C88F086FE9B}" destId="{C7E86462-7339-4E75-923A-345DD5A1921B}" srcOrd="13" destOrd="0" presId="urn:microsoft.com/office/officeart/2005/8/layout/vList2"/>
    <dgm:cxn modelId="{B7F48198-BE0E-49AB-B23B-71215E80422B}" type="presParOf" srcId="{6523D74F-3344-45D1-8C42-9C88F086FE9B}" destId="{3B6DA155-7197-45C9-B782-CEEABEBA53D8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B94023-715A-46F9-86C0-7F8B45B995B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18418A0-0705-4D83-AEAB-B859E1607C69}">
      <dgm:prSet/>
      <dgm:spPr/>
      <dgm:t>
        <a:bodyPr/>
        <a:lstStyle/>
        <a:p>
          <a:r>
            <a:rPr lang="en-US"/>
            <a:t>Due to our limited experience in web development, we encountered challenges during the initial stages while familiarizing ourselves with the front-end and back-end technologies.</a:t>
          </a:r>
        </a:p>
      </dgm:t>
    </dgm:pt>
    <dgm:pt modelId="{04770CBC-B1C2-4FA5-B3FF-2CE1E7395FE6}" type="parTrans" cxnId="{57CB9A05-A840-440C-A390-8F97C77F42E1}">
      <dgm:prSet/>
      <dgm:spPr/>
      <dgm:t>
        <a:bodyPr/>
        <a:lstStyle/>
        <a:p>
          <a:endParaRPr lang="en-US"/>
        </a:p>
      </dgm:t>
    </dgm:pt>
    <dgm:pt modelId="{689B7774-FD39-4CE3-9C89-26785999A9F2}" type="sibTrans" cxnId="{57CB9A05-A840-440C-A390-8F97C77F42E1}">
      <dgm:prSet/>
      <dgm:spPr/>
      <dgm:t>
        <a:bodyPr/>
        <a:lstStyle/>
        <a:p>
          <a:endParaRPr lang="en-US"/>
        </a:p>
      </dgm:t>
    </dgm:pt>
    <dgm:pt modelId="{3E73FA97-D9EF-43E7-8B5A-58039511A1C5}">
      <dgm:prSet/>
      <dgm:spPr/>
      <dgm:t>
        <a:bodyPr/>
        <a:lstStyle/>
        <a:p>
          <a:r>
            <a:rPr lang="en-US"/>
            <a:t>Despite utilizing GitHub for collaborative development and attempting to merge individual code contributions, conflicts arose during the merge process.</a:t>
          </a:r>
        </a:p>
      </dgm:t>
    </dgm:pt>
    <dgm:pt modelId="{F6A41941-E3F4-47BD-811C-EA16B2D4D382}" type="parTrans" cxnId="{ECE3B2D5-B2A2-4F2F-8D7B-FB1F339E515D}">
      <dgm:prSet/>
      <dgm:spPr/>
      <dgm:t>
        <a:bodyPr/>
        <a:lstStyle/>
        <a:p>
          <a:endParaRPr lang="en-US"/>
        </a:p>
      </dgm:t>
    </dgm:pt>
    <dgm:pt modelId="{1B82DA82-95C5-4603-B57B-8B62BE776F3D}" type="sibTrans" cxnId="{ECE3B2D5-B2A2-4F2F-8D7B-FB1F339E515D}">
      <dgm:prSet/>
      <dgm:spPr/>
      <dgm:t>
        <a:bodyPr/>
        <a:lstStyle/>
        <a:p>
          <a:endParaRPr lang="en-US"/>
        </a:p>
      </dgm:t>
    </dgm:pt>
    <dgm:pt modelId="{09A766C7-5751-4EAA-9D27-6D1FE0B21614}">
      <dgm:prSet/>
      <dgm:spPr/>
      <dgm:t>
        <a:bodyPr/>
        <a:lstStyle/>
        <a:p>
          <a:r>
            <a:rPr lang="en-US"/>
            <a:t>Integrating frontend components with backend APIs  was challenging, especially with data consistency and format mismatches.</a:t>
          </a:r>
        </a:p>
      </dgm:t>
    </dgm:pt>
    <dgm:pt modelId="{2D95209C-3881-4D90-BB28-FACCCCEE0C56}" type="parTrans" cxnId="{7136E591-9A88-4324-84E2-CD03C5855D4A}">
      <dgm:prSet/>
      <dgm:spPr/>
      <dgm:t>
        <a:bodyPr/>
        <a:lstStyle/>
        <a:p>
          <a:endParaRPr lang="en-US"/>
        </a:p>
      </dgm:t>
    </dgm:pt>
    <dgm:pt modelId="{6598216D-6A3B-46C6-81BA-29BFB53D0A1F}" type="sibTrans" cxnId="{7136E591-9A88-4324-84E2-CD03C5855D4A}">
      <dgm:prSet/>
      <dgm:spPr/>
      <dgm:t>
        <a:bodyPr/>
        <a:lstStyle/>
        <a:p>
          <a:endParaRPr lang="en-US"/>
        </a:p>
      </dgm:t>
    </dgm:pt>
    <dgm:pt modelId="{08C9D039-C92A-4724-A1F0-0B82829993EF}" type="pres">
      <dgm:prSet presAssocID="{86B94023-715A-46F9-86C0-7F8B45B995BF}" presName="linear" presStyleCnt="0">
        <dgm:presLayoutVars>
          <dgm:animLvl val="lvl"/>
          <dgm:resizeHandles val="exact"/>
        </dgm:presLayoutVars>
      </dgm:prSet>
      <dgm:spPr/>
    </dgm:pt>
    <dgm:pt modelId="{B70EA23E-F0C8-4AEE-9477-EA0AD8BC59DB}" type="pres">
      <dgm:prSet presAssocID="{B18418A0-0705-4D83-AEAB-B859E1607C6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4B2C29F-1269-4833-8C78-926014380123}" type="pres">
      <dgm:prSet presAssocID="{689B7774-FD39-4CE3-9C89-26785999A9F2}" presName="spacer" presStyleCnt="0"/>
      <dgm:spPr/>
    </dgm:pt>
    <dgm:pt modelId="{1AC1E183-DB20-4894-B920-095498AB9235}" type="pres">
      <dgm:prSet presAssocID="{3E73FA97-D9EF-43E7-8B5A-58039511A1C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23CA6CC-BAD0-4A64-999A-5B2CE0D8E3E9}" type="pres">
      <dgm:prSet presAssocID="{1B82DA82-95C5-4603-B57B-8B62BE776F3D}" presName="spacer" presStyleCnt="0"/>
      <dgm:spPr/>
    </dgm:pt>
    <dgm:pt modelId="{590417F1-7911-4CAF-939E-584751CB898E}" type="pres">
      <dgm:prSet presAssocID="{09A766C7-5751-4EAA-9D27-6D1FE0B2161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7CB9A05-A840-440C-A390-8F97C77F42E1}" srcId="{86B94023-715A-46F9-86C0-7F8B45B995BF}" destId="{B18418A0-0705-4D83-AEAB-B859E1607C69}" srcOrd="0" destOrd="0" parTransId="{04770CBC-B1C2-4FA5-B3FF-2CE1E7395FE6}" sibTransId="{689B7774-FD39-4CE3-9C89-26785999A9F2}"/>
    <dgm:cxn modelId="{5BD2FC09-39AA-47E0-841C-2D0C58E8DF05}" type="presOf" srcId="{09A766C7-5751-4EAA-9D27-6D1FE0B21614}" destId="{590417F1-7911-4CAF-939E-584751CB898E}" srcOrd="0" destOrd="0" presId="urn:microsoft.com/office/officeart/2005/8/layout/vList2"/>
    <dgm:cxn modelId="{3B65DA4F-B837-4A14-B7D5-3ACA87FDB0B1}" type="presOf" srcId="{B18418A0-0705-4D83-AEAB-B859E1607C69}" destId="{B70EA23E-F0C8-4AEE-9477-EA0AD8BC59DB}" srcOrd="0" destOrd="0" presId="urn:microsoft.com/office/officeart/2005/8/layout/vList2"/>
    <dgm:cxn modelId="{8C0FFE83-D768-4731-8C02-E8C868CB2D3F}" type="presOf" srcId="{3E73FA97-D9EF-43E7-8B5A-58039511A1C5}" destId="{1AC1E183-DB20-4894-B920-095498AB9235}" srcOrd="0" destOrd="0" presId="urn:microsoft.com/office/officeart/2005/8/layout/vList2"/>
    <dgm:cxn modelId="{C892AA8C-50AB-4255-BD33-E805C8225C3F}" type="presOf" srcId="{86B94023-715A-46F9-86C0-7F8B45B995BF}" destId="{08C9D039-C92A-4724-A1F0-0B82829993EF}" srcOrd="0" destOrd="0" presId="urn:microsoft.com/office/officeart/2005/8/layout/vList2"/>
    <dgm:cxn modelId="{7136E591-9A88-4324-84E2-CD03C5855D4A}" srcId="{86B94023-715A-46F9-86C0-7F8B45B995BF}" destId="{09A766C7-5751-4EAA-9D27-6D1FE0B21614}" srcOrd="2" destOrd="0" parTransId="{2D95209C-3881-4D90-BB28-FACCCCEE0C56}" sibTransId="{6598216D-6A3B-46C6-81BA-29BFB53D0A1F}"/>
    <dgm:cxn modelId="{ECE3B2D5-B2A2-4F2F-8D7B-FB1F339E515D}" srcId="{86B94023-715A-46F9-86C0-7F8B45B995BF}" destId="{3E73FA97-D9EF-43E7-8B5A-58039511A1C5}" srcOrd="1" destOrd="0" parTransId="{F6A41941-E3F4-47BD-811C-EA16B2D4D382}" sibTransId="{1B82DA82-95C5-4603-B57B-8B62BE776F3D}"/>
    <dgm:cxn modelId="{35BC383F-CED1-4DFB-8A1B-533084E264F2}" type="presParOf" srcId="{08C9D039-C92A-4724-A1F0-0B82829993EF}" destId="{B70EA23E-F0C8-4AEE-9477-EA0AD8BC59DB}" srcOrd="0" destOrd="0" presId="urn:microsoft.com/office/officeart/2005/8/layout/vList2"/>
    <dgm:cxn modelId="{F54528AF-46EA-430B-95C7-F538D7217C79}" type="presParOf" srcId="{08C9D039-C92A-4724-A1F0-0B82829993EF}" destId="{04B2C29F-1269-4833-8C78-926014380123}" srcOrd="1" destOrd="0" presId="urn:microsoft.com/office/officeart/2005/8/layout/vList2"/>
    <dgm:cxn modelId="{ACFCD1F1-646C-43D3-A321-7FDE7B132059}" type="presParOf" srcId="{08C9D039-C92A-4724-A1F0-0B82829993EF}" destId="{1AC1E183-DB20-4894-B920-095498AB9235}" srcOrd="2" destOrd="0" presId="urn:microsoft.com/office/officeart/2005/8/layout/vList2"/>
    <dgm:cxn modelId="{9B260B64-5535-42F3-B906-358D762E7FA8}" type="presParOf" srcId="{08C9D039-C92A-4724-A1F0-0B82829993EF}" destId="{A23CA6CC-BAD0-4A64-999A-5B2CE0D8E3E9}" srcOrd="3" destOrd="0" presId="urn:microsoft.com/office/officeart/2005/8/layout/vList2"/>
    <dgm:cxn modelId="{5F46020E-940A-4C19-8BB0-7DEEA843D343}" type="presParOf" srcId="{08C9D039-C92A-4724-A1F0-0B82829993EF}" destId="{590417F1-7911-4CAF-939E-584751CB898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D0FB0F-3AEA-4737-A5BD-0F7EDCF7C898}">
      <dsp:nvSpPr>
        <dsp:cNvPr id="0" name=""/>
        <dsp:cNvSpPr/>
      </dsp:nvSpPr>
      <dsp:spPr>
        <a:xfrm>
          <a:off x="0" y="43894"/>
          <a:ext cx="10080678" cy="5454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FRONTEND</a:t>
          </a:r>
          <a:r>
            <a:rPr lang="en-US" sz="1500" kern="1200"/>
            <a:t> : ReactJS , HTML , CSS.</a:t>
          </a:r>
        </a:p>
      </dsp:txBody>
      <dsp:txXfrm>
        <a:off x="26625" y="70519"/>
        <a:ext cx="10027428" cy="492171"/>
      </dsp:txXfrm>
    </dsp:sp>
    <dsp:sp modelId="{B52FE86F-3ACE-4213-BFB5-1AF7E546FA90}">
      <dsp:nvSpPr>
        <dsp:cNvPr id="0" name=""/>
        <dsp:cNvSpPr/>
      </dsp:nvSpPr>
      <dsp:spPr>
        <a:xfrm>
          <a:off x="0" y="632515"/>
          <a:ext cx="10080678" cy="5454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BACKEND </a:t>
          </a:r>
          <a:r>
            <a:rPr lang="en-US" sz="1500" kern="1200"/>
            <a:t>  : MongoDB , ExpressJS, Mongoose,NodeJS.</a:t>
          </a:r>
        </a:p>
      </dsp:txBody>
      <dsp:txXfrm>
        <a:off x="26625" y="659140"/>
        <a:ext cx="10027428" cy="492171"/>
      </dsp:txXfrm>
    </dsp:sp>
    <dsp:sp modelId="{1623AE40-4951-47C4-AC21-724A2A164F14}">
      <dsp:nvSpPr>
        <dsp:cNvPr id="0" name=""/>
        <dsp:cNvSpPr/>
      </dsp:nvSpPr>
      <dsp:spPr>
        <a:xfrm>
          <a:off x="0" y="1221136"/>
          <a:ext cx="10080678" cy="5454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Models</a:t>
          </a:r>
          <a:r>
            <a:rPr lang="en-US" sz="1500" kern="1200"/>
            <a:t> :   We created classes for each entity of system.</a:t>
          </a:r>
        </a:p>
      </dsp:txBody>
      <dsp:txXfrm>
        <a:off x="26625" y="1247761"/>
        <a:ext cx="10027428" cy="492171"/>
      </dsp:txXfrm>
    </dsp:sp>
    <dsp:sp modelId="{DCB0AE4F-6D43-4EEA-A873-FCC5C0E41E66}">
      <dsp:nvSpPr>
        <dsp:cNvPr id="0" name=""/>
        <dsp:cNvSpPr/>
      </dsp:nvSpPr>
      <dsp:spPr>
        <a:xfrm>
          <a:off x="0" y="1809757"/>
          <a:ext cx="10080678" cy="5454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Templates</a:t>
          </a:r>
          <a:r>
            <a:rPr lang="en-US" sz="1500" kern="1200"/>
            <a:t>:   Different pages with unique url's.</a:t>
          </a:r>
        </a:p>
      </dsp:txBody>
      <dsp:txXfrm>
        <a:off x="26625" y="1836382"/>
        <a:ext cx="10027428" cy="492171"/>
      </dsp:txXfrm>
    </dsp:sp>
    <dsp:sp modelId="{6EE5CFFE-9843-4D1E-85AE-A5AB388BFE90}">
      <dsp:nvSpPr>
        <dsp:cNvPr id="0" name=""/>
        <dsp:cNvSpPr/>
      </dsp:nvSpPr>
      <dsp:spPr>
        <a:xfrm>
          <a:off x="0" y="2398378"/>
          <a:ext cx="10080678" cy="5454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Event Handling:</a:t>
          </a:r>
          <a:r>
            <a:rPr lang="en-US" sz="1500" kern="1200"/>
            <a:t> Views respond to user interactions like clicks and input changes, driving the application's functionality.</a:t>
          </a:r>
        </a:p>
      </dsp:txBody>
      <dsp:txXfrm>
        <a:off x="26625" y="2425003"/>
        <a:ext cx="10027428" cy="492171"/>
      </dsp:txXfrm>
    </dsp:sp>
    <dsp:sp modelId="{830066FE-D9C0-4017-B59E-6B926ADC1E25}">
      <dsp:nvSpPr>
        <dsp:cNvPr id="0" name=""/>
        <dsp:cNvSpPr/>
      </dsp:nvSpPr>
      <dsp:spPr>
        <a:xfrm>
          <a:off x="0" y="2987000"/>
          <a:ext cx="10080678" cy="5454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Routing and Navigation:</a:t>
          </a:r>
          <a:r>
            <a:rPr lang="en-US" sz="1500" kern="1200"/>
            <a:t> Utilizing React Router, views enable seamless navigation between different pages or views within the application.</a:t>
          </a:r>
        </a:p>
      </dsp:txBody>
      <dsp:txXfrm>
        <a:off x="26625" y="3013625"/>
        <a:ext cx="10027428" cy="492171"/>
      </dsp:txXfrm>
    </dsp:sp>
    <dsp:sp modelId="{2EB946D2-562B-4D31-9B74-11F46317CD89}">
      <dsp:nvSpPr>
        <dsp:cNvPr id="0" name=""/>
        <dsp:cNvSpPr/>
      </dsp:nvSpPr>
      <dsp:spPr>
        <a:xfrm>
          <a:off x="0" y="3575621"/>
          <a:ext cx="10080678" cy="5454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Integration with Backend APIs:</a:t>
          </a:r>
          <a:r>
            <a:rPr lang="en-US" sz="1500" kern="1200"/>
            <a:t> Views communicate with backend APIs to fetch and update data, ensuring real-time data interaction for users.</a:t>
          </a:r>
        </a:p>
      </dsp:txBody>
      <dsp:txXfrm>
        <a:off x="26625" y="3602246"/>
        <a:ext cx="10027428" cy="492171"/>
      </dsp:txXfrm>
    </dsp:sp>
    <dsp:sp modelId="{3B6DA155-7197-45C9-B782-CEEABEBA53D8}">
      <dsp:nvSpPr>
        <dsp:cNvPr id="0" name=""/>
        <dsp:cNvSpPr/>
      </dsp:nvSpPr>
      <dsp:spPr>
        <a:xfrm>
          <a:off x="0" y="4164242"/>
          <a:ext cx="10080678" cy="5454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Error Handling:</a:t>
          </a:r>
          <a:r>
            <a:rPr lang="en-US" sz="1500" kern="1200"/>
            <a:t> Views gracefully handle errors by displaying informative messages and guiding users on how to proceed, enhancing user trust and satisfaction</a:t>
          </a:r>
        </a:p>
      </dsp:txBody>
      <dsp:txXfrm>
        <a:off x="26625" y="4190867"/>
        <a:ext cx="10027428" cy="4921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0EA23E-F0C8-4AEE-9477-EA0AD8BC59DB}">
      <dsp:nvSpPr>
        <dsp:cNvPr id="0" name=""/>
        <dsp:cNvSpPr/>
      </dsp:nvSpPr>
      <dsp:spPr>
        <a:xfrm>
          <a:off x="0" y="59048"/>
          <a:ext cx="10500962" cy="1458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Due to our limited experience in web development, we encountered challenges during the initial stages while familiarizing ourselves with the front-end and back-end technologies.</a:t>
          </a:r>
        </a:p>
      </dsp:txBody>
      <dsp:txXfrm>
        <a:off x="71222" y="130270"/>
        <a:ext cx="10358518" cy="1316546"/>
      </dsp:txXfrm>
    </dsp:sp>
    <dsp:sp modelId="{1AC1E183-DB20-4894-B920-095498AB9235}">
      <dsp:nvSpPr>
        <dsp:cNvPr id="0" name=""/>
        <dsp:cNvSpPr/>
      </dsp:nvSpPr>
      <dsp:spPr>
        <a:xfrm>
          <a:off x="0" y="1601558"/>
          <a:ext cx="10500962" cy="1458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Despite utilizing GitHub for collaborative development and attempting to merge individual code contributions, conflicts arose during the merge process.</a:t>
          </a:r>
        </a:p>
      </dsp:txBody>
      <dsp:txXfrm>
        <a:off x="71222" y="1672780"/>
        <a:ext cx="10358518" cy="1316546"/>
      </dsp:txXfrm>
    </dsp:sp>
    <dsp:sp modelId="{590417F1-7911-4CAF-939E-584751CB898E}">
      <dsp:nvSpPr>
        <dsp:cNvPr id="0" name=""/>
        <dsp:cNvSpPr/>
      </dsp:nvSpPr>
      <dsp:spPr>
        <a:xfrm>
          <a:off x="0" y="3144069"/>
          <a:ext cx="10500962" cy="1458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Integrating frontend components with backend APIs  was challenging, especially with data consistency and format mismatches.</a:t>
          </a:r>
        </a:p>
      </dsp:txBody>
      <dsp:txXfrm>
        <a:off x="71222" y="3215291"/>
        <a:ext cx="10358518" cy="13165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4/16/2024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501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4/16/2024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769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4/16/2024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586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4/16/2024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496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4/16/2024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3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4/16/2024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559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4/16/2024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9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4/16/2024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3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4/16/2024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793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4/16/2024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352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4/16/2024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274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4/16/2024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684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 descr="Neon 3D circle art">
            <a:extLst>
              <a:ext uri="{FF2B5EF4-FFF2-40B4-BE49-F238E27FC236}">
                <a16:creationId xmlns:a16="http://schemas.microsoft.com/office/drawing/2014/main" id="{7ECE6D49-1FD0-CBB9-3008-EED27E0E50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293" b="35"/>
          <a:stretch/>
        </p:blipFill>
        <p:spPr>
          <a:xfrm>
            <a:off x="20" y="1"/>
            <a:ext cx="1219198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6817215" cy="3144567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Software Project-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>
                <a:solidFill>
                  <a:srgbClr val="FFFFFF"/>
                </a:solidFill>
              </a:rPr>
              <a:t>Road Repair and Tracking Software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5777556" y="3435047"/>
            <a:ext cx="5607693" cy="2838027"/>
          </a:xfrm>
        </p:spPr>
        <p:txBody>
          <a:bodyPr anchor="b">
            <a:normAutofit/>
          </a:bodyPr>
          <a:lstStyle/>
          <a:p>
            <a:pPr algn="r"/>
            <a:r>
              <a:rPr lang="en-US" sz="2400">
                <a:solidFill>
                  <a:srgbClr val="FFFFFF"/>
                </a:solidFill>
                <a:latin typeface="Amasis MT Pro Medium"/>
              </a:rPr>
              <a:t>BY-</a:t>
            </a:r>
            <a:endParaRPr lang="en-US"/>
          </a:p>
          <a:p>
            <a:pPr algn="r"/>
            <a:r>
              <a:rPr lang="en-US" sz="2400">
                <a:solidFill>
                  <a:srgbClr val="FFFFFF"/>
                </a:solidFill>
                <a:latin typeface="Amasis MT Pro Medium"/>
              </a:rPr>
              <a:t>S.SUMITH CHANDRA – 22CS10067</a:t>
            </a:r>
          </a:p>
          <a:p>
            <a:pPr algn="r"/>
            <a:r>
              <a:rPr lang="en-US" sz="2400">
                <a:solidFill>
                  <a:srgbClr val="FFFFFF"/>
                </a:solidFill>
                <a:latin typeface="Amasis MT Pro Medium"/>
              </a:rPr>
              <a:t>M.NIKHIL KUMAR – 22CS10042</a:t>
            </a:r>
          </a:p>
          <a:p>
            <a:pPr algn="r"/>
            <a:r>
              <a:rPr lang="en-US" sz="2400">
                <a:solidFill>
                  <a:srgbClr val="FFFFFF"/>
                </a:solidFill>
                <a:latin typeface="Amasis MT Pro Medium"/>
              </a:rPr>
              <a:t>K.RISHITH KUMAR - 22CS10037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97A91E-C9D3-B146-E44D-F78B49A66162}"/>
              </a:ext>
            </a:extLst>
          </p:cNvPr>
          <p:cNvSpPr txBox="1"/>
          <p:nvPr/>
        </p:nvSpPr>
        <p:spPr>
          <a:xfrm>
            <a:off x="1028095" y="5237238"/>
            <a:ext cx="4363961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TEAM : AKATSUKI</a:t>
            </a:r>
            <a:endParaRPr lang="en-US" sz="4400" dirty="0">
              <a:solidFill>
                <a:schemeClr val="bg1"/>
              </a:solidFill>
              <a:latin typeface="Tw Cen MT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4" descr="Neon 3D circle art">
            <a:extLst>
              <a:ext uri="{FF2B5EF4-FFF2-40B4-BE49-F238E27FC236}">
                <a16:creationId xmlns:a16="http://schemas.microsoft.com/office/drawing/2014/main" id="{C1E957A6-0CC7-0621-BA8F-EF47A41366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293" b="35"/>
          <a:stretch/>
        </p:blipFill>
        <p:spPr>
          <a:xfrm>
            <a:off x="20" y="1"/>
            <a:ext cx="12216170" cy="69184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91940E-8CCB-0F2C-FB29-C0A0D8195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603" y="437635"/>
            <a:ext cx="10900105" cy="619270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PROBLEM DESCRIPTION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42B867-DAC2-2FBC-6BD2-226D73B5D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5882" y="2071513"/>
            <a:ext cx="1550775" cy="15816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EAB008-F6DE-78A8-AC38-F60E365B98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583" y="2071514"/>
            <a:ext cx="1561072" cy="15816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839FA8-0766-85C9-A723-0F6034BD4A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3519" y="2071513"/>
            <a:ext cx="1561071" cy="1581667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2572E87-5142-7ADA-96D6-31A60A870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154" y="3643428"/>
            <a:ext cx="2306019" cy="511980"/>
          </a:xfrm>
        </p:spPr>
        <p:txBody>
          <a:bodyPr vert="horz" lIns="45720" tIns="45720" rIns="45720" bIns="45720" rtlCol="0" anchor="t">
            <a:normAutofit/>
          </a:bodyPr>
          <a:lstStyle/>
          <a:p>
            <a:pPr marL="310515" lvl="2" indent="0">
              <a:buNone/>
            </a:pPr>
            <a:r>
              <a:rPr lang="en-US">
                <a:solidFill>
                  <a:schemeClr val="bg1"/>
                </a:solidFill>
              </a:rPr>
              <a:t>     </a:t>
            </a:r>
            <a:r>
              <a:rPr lang="en-US" sz="2800">
                <a:solidFill>
                  <a:schemeClr val="bg1"/>
                </a:solidFill>
              </a:rPr>
              <a:t>Clerks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1FA875-397B-FE1D-AEB8-4ADE244EA5AF}"/>
              </a:ext>
            </a:extLst>
          </p:cNvPr>
          <p:cNvSpPr txBox="1"/>
          <p:nvPr/>
        </p:nvSpPr>
        <p:spPr>
          <a:xfrm>
            <a:off x="5146205" y="3647574"/>
            <a:ext cx="211506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   </a:t>
            </a:r>
            <a:r>
              <a:rPr lang="en-US" sz="2800">
                <a:solidFill>
                  <a:schemeClr val="bg1"/>
                </a:solidFill>
                <a:latin typeface="Tw Cen MT"/>
              </a:rPr>
              <a:t>Supervisors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BC1B7E-DFBD-D12A-637F-49E9AE07610B}"/>
              </a:ext>
            </a:extLst>
          </p:cNvPr>
          <p:cNvSpPr txBox="1"/>
          <p:nvPr/>
        </p:nvSpPr>
        <p:spPr>
          <a:xfrm>
            <a:off x="9924117" y="3289136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705CB8-0487-5160-1924-706A619EECF9}"/>
              </a:ext>
            </a:extLst>
          </p:cNvPr>
          <p:cNvSpPr txBox="1"/>
          <p:nvPr/>
        </p:nvSpPr>
        <p:spPr>
          <a:xfrm>
            <a:off x="9194949" y="3652378"/>
            <a:ext cx="210476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</a:rPr>
              <a:t>Administrator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7A5C43-378A-DB36-C7CA-EBDF9E5ED529}"/>
              </a:ext>
            </a:extLst>
          </p:cNvPr>
          <p:cNvSpPr txBox="1"/>
          <p:nvPr/>
        </p:nvSpPr>
        <p:spPr>
          <a:xfrm>
            <a:off x="1299652" y="4260772"/>
            <a:ext cx="2434280" cy="2031325"/>
          </a:xfrm>
          <a:prstGeom prst="rect">
            <a:avLst/>
          </a:prstGeom>
          <a:solidFill>
            <a:srgbClr val="00B0F0"/>
          </a:solidFill>
          <a:ln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onnsiteX0" fmla="*/ 0 w 2434280"/>
                      <a:gd name="connsiteY0" fmla="*/ 0 h 2031325"/>
                      <a:gd name="connsiteX1" fmla="*/ 2434280 w 2434280"/>
                      <a:gd name="connsiteY1" fmla="*/ 0 h 2031325"/>
                      <a:gd name="connsiteX2" fmla="*/ 2434280 w 2434280"/>
                      <a:gd name="connsiteY2" fmla="*/ 2031325 h 2031325"/>
                      <a:gd name="connsiteX3" fmla="*/ 0 w 2434280"/>
                      <a:gd name="connsiteY3" fmla="*/ 2031325 h 2031325"/>
                      <a:gd name="connsiteX4" fmla="*/ 0 w 2434280"/>
                      <a:gd name="connsiteY4" fmla="*/ 0 h 20313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434280" h="2031325" fill="none" extrusionOk="0">
                        <a:moveTo>
                          <a:pt x="0" y="0"/>
                        </a:moveTo>
                        <a:cubicBezTo>
                          <a:pt x="359673" y="-149972"/>
                          <a:pt x="1861178" y="85198"/>
                          <a:pt x="2434280" y="0"/>
                        </a:cubicBezTo>
                        <a:cubicBezTo>
                          <a:pt x="2603691" y="925151"/>
                          <a:pt x="2519834" y="1249530"/>
                          <a:pt x="2434280" y="2031325"/>
                        </a:cubicBezTo>
                        <a:cubicBezTo>
                          <a:pt x="1522783" y="2122701"/>
                          <a:pt x="1021104" y="2025268"/>
                          <a:pt x="0" y="2031325"/>
                        </a:cubicBezTo>
                        <a:cubicBezTo>
                          <a:pt x="-92943" y="1661822"/>
                          <a:pt x="-168235" y="587107"/>
                          <a:pt x="0" y="0"/>
                        </a:cubicBezTo>
                        <a:close/>
                      </a:path>
                      <a:path w="2434280" h="2031325" stroke="0" extrusionOk="0">
                        <a:moveTo>
                          <a:pt x="0" y="0"/>
                        </a:moveTo>
                        <a:cubicBezTo>
                          <a:pt x="852859" y="-113254"/>
                          <a:pt x="1517578" y="102601"/>
                          <a:pt x="2434280" y="0"/>
                        </a:cubicBezTo>
                        <a:cubicBezTo>
                          <a:pt x="2381455" y="515434"/>
                          <a:pt x="2557454" y="1518196"/>
                          <a:pt x="2434280" y="2031325"/>
                        </a:cubicBezTo>
                        <a:cubicBezTo>
                          <a:pt x="1929053" y="2087135"/>
                          <a:pt x="258571" y="2200283"/>
                          <a:pt x="0" y="2031325"/>
                        </a:cubicBezTo>
                        <a:cubicBezTo>
                          <a:pt x="-144930" y="1643704"/>
                          <a:pt x="-18259" y="85499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rgbClr val="ECECEC"/>
                </a:solidFill>
                <a:ea typeface="+mn-lt"/>
                <a:cs typeface="+mn-lt"/>
              </a:rPr>
              <a:t>Registers Complaints Raised by Residents</a:t>
            </a:r>
            <a:endParaRPr lang="en-US"/>
          </a:p>
          <a:p>
            <a:endParaRPr lang="en-US" b="1">
              <a:solidFill>
                <a:srgbClr val="ECECEC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rgbClr val="ECECEC"/>
                </a:solidFill>
                <a:ea typeface="+mn-lt"/>
                <a:cs typeface="+mn-lt"/>
              </a:rPr>
              <a:t>Updates Customers on the Work Progress</a:t>
            </a:r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D16A9F-2C72-4F92-6458-4B99AC5F886E}"/>
              </a:ext>
            </a:extLst>
          </p:cNvPr>
          <p:cNvSpPr txBox="1"/>
          <p:nvPr/>
        </p:nvSpPr>
        <p:spPr>
          <a:xfrm>
            <a:off x="4688706" y="4261068"/>
            <a:ext cx="3268360" cy="2308324"/>
          </a:xfrm>
          <a:prstGeom prst="rect">
            <a:avLst/>
          </a:prstGeom>
          <a:solidFill>
            <a:srgbClr val="00B0F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After visiting the repair site, records the resource data and assigns work priority</a:t>
            </a:r>
          </a:p>
          <a:p>
            <a:pPr marL="285750" indent="-285750">
              <a:buFont typeface="Arial"/>
              <a:buChar char="•"/>
            </a:pPr>
            <a:endParaRPr lang="en-US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Edits resources as needed during the ongoing work and marks completed upon finishing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E995EA-BED8-C568-2D03-700144E908D2}"/>
              </a:ext>
            </a:extLst>
          </p:cNvPr>
          <p:cNvSpPr txBox="1"/>
          <p:nvPr/>
        </p:nvSpPr>
        <p:spPr>
          <a:xfrm>
            <a:off x="8869741" y="4263108"/>
            <a:ext cx="2668830" cy="2308324"/>
          </a:xfrm>
          <a:prstGeom prst="rect">
            <a:avLst/>
          </a:prstGeom>
          <a:solidFill>
            <a:srgbClr val="00B0F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bg1"/>
                </a:solidFill>
              </a:rPr>
              <a:t>Updates work schedule </a:t>
            </a:r>
          </a:p>
          <a:p>
            <a:pPr marL="285750" indent="-285750">
              <a:buFont typeface="Arial"/>
              <a:buChar char="•"/>
            </a:pPr>
            <a:endParaRPr lang="en-US" b="1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bg1"/>
                </a:solidFill>
              </a:rPr>
              <a:t>Updates Resources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bg1"/>
                </a:solidFill>
              </a:rPr>
              <a:t>Generate Statistics Upon request from mayor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5CA8F-D862-1C5C-4836-1428275E699A}"/>
              </a:ext>
            </a:extLst>
          </p:cNvPr>
          <p:cNvSpPr txBox="1"/>
          <p:nvPr/>
        </p:nvSpPr>
        <p:spPr>
          <a:xfrm>
            <a:off x="644071" y="1112763"/>
            <a:ext cx="1065348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dirty="0">
                <a:solidFill>
                  <a:srgbClr val="ECECEC"/>
                </a:solidFill>
                <a:latin typeface="Tw Cen MT Condensed"/>
                <a:ea typeface="+mn-lt"/>
                <a:cs typeface="+mn-lt"/>
              </a:rPr>
              <a:t>ROAD REPAIR AND TRACKING SOFTWARE DEVELOPED TO AUTOMATE BOOK KEEPING TASKS AND ASSIGNING WORKS FOR ROAD REPAIR OPERATIONS OF A CITY'S PUBLIC WORKS DEPARTMENT.</a:t>
            </a:r>
            <a:endParaRPr lang="en-US" sz="2800">
              <a:latin typeface="Tw Cen MT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738085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Neon 3D circle art">
            <a:extLst>
              <a:ext uri="{FF2B5EF4-FFF2-40B4-BE49-F238E27FC236}">
                <a16:creationId xmlns:a16="http://schemas.microsoft.com/office/drawing/2014/main" id="{1E533B01-D9D6-F219-EBB9-AE9B1BF27D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293" b="35"/>
          <a:stretch/>
        </p:blipFill>
        <p:spPr>
          <a:xfrm>
            <a:off x="-4819" y="-483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A0F0ED-52D1-19B1-AEE9-148A53EC9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497" y="154214"/>
            <a:ext cx="10765067" cy="921651"/>
          </a:xfrm>
        </p:spPr>
        <p:txBody>
          <a:bodyPr>
            <a:normAutofit/>
          </a:bodyPr>
          <a:lstStyle/>
          <a:p>
            <a:r>
              <a:rPr lang="en-US" u="sng">
                <a:solidFill>
                  <a:schemeClr val="bg1"/>
                </a:solidFill>
              </a:rPr>
              <a:t>Use Case Diagram:</a:t>
            </a:r>
            <a:r>
              <a:rPr lang="en-US">
                <a:solidFill>
                  <a:schemeClr val="bg1"/>
                </a:solidFill>
              </a:rPr>
              <a:t>  </a:t>
            </a:r>
          </a:p>
        </p:txBody>
      </p:sp>
      <p:pic>
        <p:nvPicPr>
          <p:cNvPr id="8" name="Content Placeholder 7" descr="A diagram of a company&#10;&#10;Description automatically generated">
            <a:extLst>
              <a:ext uri="{FF2B5EF4-FFF2-40B4-BE49-F238E27FC236}">
                <a16:creationId xmlns:a16="http://schemas.microsoft.com/office/drawing/2014/main" id="{052F1CBF-3427-D61C-BFE6-D13343F7C3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2021" y="932045"/>
            <a:ext cx="10909904" cy="5623924"/>
          </a:xfrm>
        </p:spPr>
      </p:pic>
    </p:spTree>
    <p:extLst>
      <p:ext uri="{BB962C8B-B14F-4D97-AF65-F5344CB8AC3E}">
        <p14:creationId xmlns:p14="http://schemas.microsoft.com/office/powerpoint/2010/main" val="2429048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Content Placeholder 4" descr="Neon 3D circle art">
            <a:extLst>
              <a:ext uri="{FF2B5EF4-FFF2-40B4-BE49-F238E27FC236}">
                <a16:creationId xmlns:a16="http://schemas.microsoft.com/office/drawing/2014/main" id="{F6441446-319F-18F0-F3F0-4EA6AE4E0D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293" b="35"/>
          <a:stretch/>
        </p:blipFill>
        <p:spPr>
          <a:xfrm>
            <a:off x="20" y="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562008-488B-77F5-5A76-2737DD52F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496" y="783167"/>
            <a:ext cx="7930123" cy="79526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TECHNICAL DETAILS –</a:t>
            </a:r>
          </a:p>
        </p:txBody>
      </p:sp>
      <p:graphicFrame>
        <p:nvGraphicFramePr>
          <p:cNvPr id="26" name="Content Placeholder 23">
            <a:extLst>
              <a:ext uri="{FF2B5EF4-FFF2-40B4-BE49-F238E27FC236}">
                <a16:creationId xmlns:a16="http://schemas.microsoft.com/office/drawing/2014/main" id="{F5941B5B-5734-0626-35F1-838AC1A19E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2901813"/>
              </p:ext>
            </p:extLst>
          </p:nvPr>
        </p:nvGraphicFramePr>
        <p:xfrm>
          <a:off x="912580" y="1585224"/>
          <a:ext cx="10080678" cy="47535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60643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 descr="Neon 3D circle art">
            <a:extLst>
              <a:ext uri="{FF2B5EF4-FFF2-40B4-BE49-F238E27FC236}">
                <a16:creationId xmlns:a16="http://schemas.microsoft.com/office/drawing/2014/main" id="{41916840-7F86-1BAD-9BD4-A0D6207E5C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293" b="35"/>
          <a:stretch/>
        </p:blipFill>
        <p:spPr>
          <a:xfrm>
            <a:off x="-4818" y="-483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087A77-A914-92C2-B939-FDC0A7F56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163" y="734787"/>
            <a:ext cx="9400296" cy="7523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Challenges Faced 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BBF7D726-3D22-F213-E7BD-BF73600F1D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6382666"/>
              </p:ext>
            </p:extLst>
          </p:nvPr>
        </p:nvGraphicFramePr>
        <p:xfrm>
          <a:off x="996163" y="1710267"/>
          <a:ext cx="10500962" cy="46621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18280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09556B-EAE9-4435-B409-0519F2CBD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552267" cy="6858000"/>
          </a:xfrm>
          <a:prstGeom prst="rect">
            <a:avLst/>
          </a:prstGeom>
          <a:solidFill>
            <a:srgbClr val="3407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8E91A7-ACB4-0050-32E9-5A2B10753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681978"/>
            <a:ext cx="6007027" cy="9311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Possible improvements</a:t>
            </a:r>
            <a:endParaRPr lang="en-US" sz="35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814CCBE-423E-41B2-A9F3-82679F490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986730E-9EA6-1802-8261-824ABE859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741715"/>
            <a:ext cx="6369884" cy="4857930"/>
          </a:xfrm>
        </p:spPr>
        <p:txBody>
          <a:bodyPr vert="horz" lIns="45720" tIns="45720" rIns="45720" bIns="45720" rtlCol="0" anchor="t">
            <a:normAutofit lnSpcReduction="10000"/>
          </a:bodyPr>
          <a:lstStyle/>
          <a:p>
            <a:pPr>
              <a:buFont typeface="Arial" panose="020B0602020104020603" pitchFamily="34" charset="0"/>
              <a:buChar char="•"/>
            </a:pPr>
            <a:r>
              <a:rPr lang="en-US" sz="2800">
                <a:solidFill>
                  <a:srgbClr val="FFFFFF"/>
                </a:solidFill>
                <a:latin typeface="Tw Cen MT Condensed"/>
              </a:rPr>
              <a:t> </a:t>
            </a:r>
            <a:r>
              <a:rPr lang="en-US" sz="2800">
                <a:solidFill>
                  <a:srgbClr val="ECECEC"/>
                </a:solidFill>
                <a:latin typeface="Tw Cen MT Condensed"/>
                <a:ea typeface="+mn-lt"/>
                <a:cs typeface="+mn-lt"/>
              </a:rPr>
              <a:t>A search bar could be introduced, allowing clerks to access complaints swiftly by entering either the complaint ID or the address and providing timely updates on their reported issues.</a:t>
            </a:r>
          </a:p>
          <a:p>
            <a:pPr>
              <a:buFont typeface="Arial" panose="020B0602020104020603" pitchFamily="34" charset="0"/>
              <a:buChar char="•"/>
            </a:pPr>
            <a:r>
              <a:rPr lang="en-US" sz="2800">
                <a:solidFill>
                  <a:srgbClr val="FFFFFF"/>
                </a:solidFill>
                <a:latin typeface="Tw Cen MT Condensed"/>
              </a:rPr>
              <a:t>A User Account where the user can give the feedback about the repair done and also can view the status of the work going on.</a:t>
            </a:r>
          </a:p>
          <a:p>
            <a:r>
              <a:rPr lang="en-US" sz="2600">
                <a:solidFill>
                  <a:srgbClr val="1CADE4"/>
                </a:solidFill>
                <a:latin typeface="Arial"/>
                <a:ea typeface="+mn-lt"/>
                <a:cs typeface="Arial"/>
              </a:rPr>
              <a:t>•</a:t>
            </a:r>
            <a:r>
              <a:rPr lang="en-US" sz="2600">
                <a:solidFill>
                  <a:srgbClr val="FFFFFF"/>
                </a:solidFill>
                <a:latin typeface="Tw Cen MT Condensed"/>
                <a:ea typeface="+mn-lt"/>
                <a:cs typeface="+mn-lt"/>
              </a:rPr>
              <a:t>Integration of OTP (One-Time Password) authentication during login enhances account security by introducing dynamically generated passwords, thereby fortifying the protection of user accounts with an additional layer of defense.</a:t>
            </a:r>
          </a:p>
          <a:p>
            <a:pPr>
              <a:buFont typeface="Arial" panose="020B0602020104020603" pitchFamily="34" charset="0"/>
              <a:buChar char="•"/>
            </a:pPr>
            <a:endParaRPr lang="en-US" sz="2800">
              <a:solidFill>
                <a:srgbClr val="ECECEC"/>
              </a:solidFill>
              <a:latin typeface="Tw Cen MT Condensed"/>
            </a:endParaRPr>
          </a:p>
          <a:p>
            <a:pPr>
              <a:buFont typeface="Arial" panose="020B0602020104020603" pitchFamily="34" charset="0"/>
              <a:buChar char="•"/>
            </a:pPr>
            <a:endParaRPr lang="en-US" sz="2800">
              <a:solidFill>
                <a:srgbClr val="FFFFFF"/>
              </a:solidFill>
              <a:latin typeface="Tw Cen MT Condensed"/>
            </a:endParaRPr>
          </a:p>
        </p:txBody>
      </p:sp>
      <p:pic>
        <p:nvPicPr>
          <p:cNvPr id="5" name="Content Placeholder 4" descr="Neon 3D circle art">
            <a:extLst>
              <a:ext uri="{FF2B5EF4-FFF2-40B4-BE49-F238E27FC236}">
                <a16:creationId xmlns:a16="http://schemas.microsoft.com/office/drawing/2014/main" id="{B441D630-DD59-A000-0081-50E9E46355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955" r="24672"/>
          <a:stretch/>
        </p:blipFill>
        <p:spPr>
          <a:xfrm>
            <a:off x="7552266" y="10"/>
            <a:ext cx="4639734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623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Neon 3D circle art">
            <a:extLst>
              <a:ext uri="{FF2B5EF4-FFF2-40B4-BE49-F238E27FC236}">
                <a16:creationId xmlns:a16="http://schemas.microsoft.com/office/drawing/2014/main" id="{178F2C05-86F4-6F86-1811-CE34BB6040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1293" b="35"/>
          <a:stretch/>
        </p:blipFill>
        <p:spPr>
          <a:xfrm>
            <a:off x="20" y="1"/>
            <a:ext cx="12191980" cy="6858000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9F0E3B-74E3-B65C-AF42-1F52CE0D5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926" y="4544786"/>
            <a:ext cx="7970315" cy="1283213"/>
          </a:xfrm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8000" i="1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6596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Integral</vt:lpstr>
      <vt:lpstr>Software Project-  Road Repair and Tracking Software</vt:lpstr>
      <vt:lpstr>PROBLEM DESCRIPTION</vt:lpstr>
      <vt:lpstr>Use Case Diagram:  </vt:lpstr>
      <vt:lpstr>TECHNICAL DETAILS –</vt:lpstr>
      <vt:lpstr>Challenges Faced </vt:lpstr>
      <vt:lpstr>Possible improvements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87</cp:revision>
  <dcterms:created xsi:type="dcterms:W3CDTF">2024-04-15T10:19:27Z</dcterms:created>
  <dcterms:modified xsi:type="dcterms:W3CDTF">2024-04-16T07:26:43Z</dcterms:modified>
</cp:coreProperties>
</file>